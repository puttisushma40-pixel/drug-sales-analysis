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Slab"/>
      <p:regular r:id="rId25"/>
      <p:bold r:id="rId26"/>
    </p:embeddedFont>
    <p:embeddedFont>
      <p:font typeface="Roboto"/>
      <p:regular r:id="rId27"/>
      <p:bold r:id="rId28"/>
      <p:italic r:id="rId29"/>
      <p:boldItalic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ono-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RobotoMono-italic.fntdata"/><Relationship Id="rId10" Type="http://schemas.openxmlformats.org/officeDocument/2006/relationships/slide" Target="slides/slide5.xml"/><Relationship Id="rId32"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Roboto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50149bd56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50149bd56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50149bd5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50149bd5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50149bd56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50149bd56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50149bd5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50149bd5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50149bd56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50149bd56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50149bd5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50149bd5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50149bd56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50149bd56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50149bd56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50149bd56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50149bd56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50149bd56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50149bd56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f50149bd56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50149bd5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50149bd5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f50149bd56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f50149bd56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50149bd56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50149bd56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50149bd56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50149bd56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50149bd56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f50149bd56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50149bd56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50149bd56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50149bd56_0_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50149bd56_0_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f50149bd56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f50149bd56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DRUG SALES ANALYSIS</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1700">
                <a:solidFill>
                  <a:srgbClr val="000000"/>
                </a:solidFill>
              </a:rPr>
              <a:t>P.BABY SUSHMA-248T1A4451</a:t>
            </a:r>
            <a:endParaRPr sz="17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CONTENTS</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40000" lnSpcReduction="20000"/>
          </a:bodyPr>
          <a:lstStyle/>
          <a:p>
            <a:pPr indent="0" lvl="0" marL="0" rtl="0" algn="l">
              <a:spcBef>
                <a:spcPts val="0"/>
              </a:spcBef>
              <a:spcAft>
                <a:spcPts val="0"/>
              </a:spcAft>
              <a:buNone/>
            </a:pPr>
            <a:r>
              <a:rPr lang="en-GB" sz="4400"/>
              <a:t>. </a:t>
            </a:r>
            <a:r>
              <a:rPr lang="en-GB" sz="4500"/>
              <a:t>Abstract</a:t>
            </a:r>
            <a:endParaRPr sz="4500"/>
          </a:p>
          <a:p>
            <a:pPr indent="0" lvl="0" marL="0" rtl="0" algn="l">
              <a:spcBef>
                <a:spcPts val="1200"/>
              </a:spcBef>
              <a:spcAft>
                <a:spcPts val="0"/>
              </a:spcAft>
              <a:buNone/>
            </a:pPr>
            <a:r>
              <a:rPr lang="en-GB" sz="4600"/>
              <a:t>. Introduction</a:t>
            </a:r>
            <a:endParaRPr sz="4600"/>
          </a:p>
          <a:p>
            <a:pPr indent="0" lvl="0" marL="0" rtl="0" algn="l">
              <a:spcBef>
                <a:spcPts val="1200"/>
              </a:spcBef>
              <a:spcAft>
                <a:spcPts val="0"/>
              </a:spcAft>
              <a:buNone/>
            </a:pPr>
            <a:r>
              <a:rPr lang="en-GB" sz="4700"/>
              <a:t>. System Requirements</a:t>
            </a:r>
            <a:endParaRPr sz="4700"/>
          </a:p>
          <a:p>
            <a:pPr indent="0" lvl="0" marL="0" rtl="0" algn="l">
              <a:spcBef>
                <a:spcPts val="1200"/>
              </a:spcBef>
              <a:spcAft>
                <a:spcPts val="0"/>
              </a:spcAft>
              <a:buNone/>
            </a:pPr>
            <a:r>
              <a:rPr lang="en-GB" sz="4700"/>
              <a:t>. Architecture</a:t>
            </a:r>
            <a:endParaRPr sz="4700"/>
          </a:p>
          <a:p>
            <a:pPr indent="0" lvl="0" marL="0" rtl="0" algn="l">
              <a:spcBef>
                <a:spcPts val="1200"/>
              </a:spcBef>
              <a:spcAft>
                <a:spcPts val="0"/>
              </a:spcAft>
              <a:buNone/>
            </a:pPr>
            <a:r>
              <a:rPr lang="en-GB" sz="4700"/>
              <a:t>. Uses of data analysis libraries</a:t>
            </a:r>
            <a:endParaRPr sz="4700"/>
          </a:p>
          <a:p>
            <a:pPr indent="0" lvl="0" marL="0" rtl="0" algn="l">
              <a:spcBef>
                <a:spcPts val="1200"/>
              </a:spcBef>
              <a:spcAft>
                <a:spcPts val="0"/>
              </a:spcAft>
              <a:buNone/>
            </a:pPr>
            <a:r>
              <a:rPr lang="en-GB" sz="4700"/>
              <a:t>. Advantages</a:t>
            </a:r>
            <a:endParaRPr sz="4700"/>
          </a:p>
          <a:p>
            <a:pPr indent="0" lvl="0" marL="0" rtl="0" algn="l">
              <a:spcBef>
                <a:spcPts val="1200"/>
              </a:spcBef>
              <a:spcAft>
                <a:spcPts val="1200"/>
              </a:spcAft>
              <a:buNone/>
            </a:pPr>
            <a:r>
              <a:rPr lang="en-GB" sz="4700"/>
              <a:t>. Conclusion</a:t>
            </a:r>
            <a:endParaRPr sz="4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ABSTRACT</a:t>
            </a:r>
            <a:endParaRPr b="1"/>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GB" sz="1500">
                <a:latin typeface="Arial"/>
                <a:ea typeface="Arial"/>
                <a:cs typeface="Arial"/>
                <a:sym typeface="Arial"/>
              </a:rPr>
              <a:t>This project presents a comprehensive analysis of drug sales data using Python to extract meaningful insights from pharmaceutical records. The dataset consists of information related to drug names, drug groups, pharmacies, companies, doctors, patients, seasons, reporting status, and prescription details.</a:t>
            </a:r>
            <a:endParaRPr sz="1500">
              <a:latin typeface="Arial"/>
              <a:ea typeface="Arial"/>
              <a:cs typeface="Arial"/>
              <a:sym typeface="Arial"/>
            </a:endParaRPr>
          </a:p>
          <a:p>
            <a:pPr indent="0" lvl="0" marL="0" rtl="0" algn="l">
              <a:spcBef>
                <a:spcPts val="1200"/>
              </a:spcBef>
              <a:spcAft>
                <a:spcPts val="0"/>
              </a:spcAft>
              <a:buNone/>
            </a:pPr>
            <a:r>
              <a:rPr lang="en-GB" sz="1500">
                <a:latin typeface="Arial"/>
                <a:ea typeface="Arial"/>
                <a:cs typeface="Arial"/>
                <a:sym typeface="Arial"/>
              </a:rPr>
              <a:t>Python libraries such as </a:t>
            </a:r>
            <a:r>
              <a:rPr b="1" lang="en-GB" sz="1500">
                <a:latin typeface="Arial"/>
                <a:ea typeface="Arial"/>
                <a:cs typeface="Arial"/>
                <a:sym typeface="Arial"/>
              </a:rPr>
              <a:t>Pandas</a:t>
            </a:r>
            <a:r>
              <a:rPr lang="en-GB" sz="1500">
                <a:latin typeface="Arial"/>
                <a:ea typeface="Arial"/>
                <a:cs typeface="Arial"/>
                <a:sym typeface="Arial"/>
              </a:rPr>
              <a:t>, </a:t>
            </a:r>
            <a:r>
              <a:rPr b="1" lang="en-GB" sz="1500">
                <a:latin typeface="Arial"/>
                <a:ea typeface="Arial"/>
                <a:cs typeface="Arial"/>
                <a:sym typeface="Arial"/>
              </a:rPr>
              <a:t>NumPy</a:t>
            </a:r>
            <a:r>
              <a:rPr lang="en-GB" sz="1500">
                <a:latin typeface="Arial"/>
                <a:ea typeface="Arial"/>
                <a:cs typeface="Arial"/>
                <a:sym typeface="Arial"/>
              </a:rPr>
              <a:t>, and </a:t>
            </a:r>
            <a:r>
              <a:rPr b="1" lang="en-GB" sz="1500">
                <a:latin typeface="Arial"/>
                <a:ea typeface="Arial"/>
                <a:cs typeface="Arial"/>
                <a:sym typeface="Arial"/>
              </a:rPr>
              <a:t>Matplotlib</a:t>
            </a:r>
            <a:r>
              <a:rPr lang="en-GB" sz="1500">
                <a:latin typeface="Arial"/>
                <a:ea typeface="Arial"/>
                <a:cs typeface="Arial"/>
                <a:sym typeface="Arial"/>
              </a:rPr>
              <a:t> are used for data preprocessing, cleaning, filtering, grouping, sorting, statistical analysis, and visualization. Various analytical queries are performed to identify the most frequently prescribed drugs, leading pharmacies, seasonal drug demand, company performance, and reporting patterns.</a:t>
            </a:r>
            <a:endParaRPr sz="1500">
              <a:latin typeface="Arial"/>
              <a:ea typeface="Arial"/>
              <a:cs typeface="Arial"/>
              <a:sym typeface="Arial"/>
            </a:endParaRPr>
          </a:p>
          <a:p>
            <a:pPr indent="0" lvl="0" marL="0" rtl="0" algn="l">
              <a:spcBef>
                <a:spcPts val="1200"/>
              </a:spcBef>
              <a:spcAft>
                <a:spcPts val="0"/>
              </a:spcAft>
              <a:buNone/>
            </a:pPr>
            <a:r>
              <a:rPr lang="en-GB" sz="1500">
                <a:latin typeface="Arial"/>
                <a:ea typeface="Arial"/>
                <a:cs typeface="Arial"/>
                <a:sym typeface="Arial"/>
              </a:rPr>
              <a:t>The graphical representations help convert complex healthcare data into understandable visual insights, supporting better decision-making in pharmaceutical inventory management and sales analysis.</a:t>
            </a:r>
            <a:endParaRPr sz="1500">
              <a:latin typeface="Arial"/>
              <a:ea typeface="Arial"/>
              <a:cs typeface="Arial"/>
              <a:sym typeface="Arial"/>
            </a:endParaRPr>
          </a:p>
          <a:p>
            <a:pPr indent="0" lvl="0" marL="0" rtl="0" algn="l">
              <a:spcBef>
                <a:spcPts val="1200"/>
              </a:spcBef>
              <a:spcAft>
                <a:spcPts val="1200"/>
              </a:spcAft>
              <a:buNone/>
            </a:pPr>
            <a:r>
              <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a:t>INTRODUCTION</a:t>
            </a:r>
            <a:endParaRPr b="1"/>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lang="en-GB" sz="1600">
                <a:latin typeface="Arial"/>
                <a:ea typeface="Arial"/>
                <a:cs typeface="Arial"/>
                <a:sym typeface="Arial"/>
              </a:rPr>
              <a:t>Drug sales analysis is the process of examining pharmaceutical sales data to understand prescription trends, medicine demand, pharmacy performance, and healthcare distribution patterns.</a:t>
            </a:r>
            <a:endParaRPr sz="1600">
              <a:latin typeface="Arial"/>
              <a:ea typeface="Arial"/>
              <a:cs typeface="Arial"/>
              <a:sym typeface="Arial"/>
            </a:endParaRPr>
          </a:p>
          <a:p>
            <a:pPr indent="0" lvl="0" marL="0" rtl="0" algn="l">
              <a:spcBef>
                <a:spcPts val="1200"/>
              </a:spcBef>
              <a:spcAft>
                <a:spcPts val="0"/>
              </a:spcAft>
              <a:buNone/>
            </a:pPr>
            <a:r>
              <a:rPr lang="en-GB" sz="1600">
                <a:latin typeface="Arial"/>
                <a:ea typeface="Arial"/>
                <a:cs typeface="Arial"/>
                <a:sym typeface="Arial"/>
              </a:rPr>
              <a:t>Manual analysis of large pharmaceutical datasets is time-consuming and prone to errors. Python provides efficient tools for handling large datasets, cleaning inconsistent records, performing statistical analysis, and generating meaningful visualizations.</a:t>
            </a:r>
            <a:endParaRPr sz="1600">
              <a:latin typeface="Arial"/>
              <a:ea typeface="Arial"/>
              <a:cs typeface="Arial"/>
              <a:sym typeface="Arial"/>
            </a:endParaRPr>
          </a:p>
          <a:p>
            <a:pPr indent="0" lvl="0" marL="0" rtl="0" algn="l">
              <a:spcBef>
                <a:spcPts val="1200"/>
              </a:spcBef>
              <a:spcAft>
                <a:spcPts val="0"/>
              </a:spcAft>
              <a:buNone/>
            </a:pPr>
            <a:r>
              <a:rPr lang="en-GB" sz="1600">
                <a:latin typeface="Arial"/>
                <a:ea typeface="Arial"/>
                <a:cs typeface="Arial"/>
                <a:sym typeface="Arial"/>
              </a:rPr>
              <a:t>This project analyzes drug sales records using Python and presents the results through charts and analytical reports that help understand medicine usage patterns and business performance.</a:t>
            </a:r>
            <a:endParaRPr sz="1600">
              <a:latin typeface="Arial"/>
              <a:ea typeface="Arial"/>
              <a:cs typeface="Arial"/>
              <a:sym typeface="Arial"/>
            </a:endParaRPr>
          </a:p>
          <a:p>
            <a:pPr indent="0" lvl="0" marL="0" rtl="0" algn="l">
              <a:spcBef>
                <a:spcPts val="1200"/>
              </a:spcBef>
              <a:spcAft>
                <a:spcPts val="1200"/>
              </a:spcAft>
              <a:buNone/>
            </a:pPr>
            <a:r>
              <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166925" y="-91800"/>
            <a:ext cx="8589300" cy="636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b="1" lang="en-GB" sz="2645">
                <a:latin typeface="Arial"/>
                <a:ea typeface="Arial"/>
                <a:cs typeface="Arial"/>
                <a:sym typeface="Arial"/>
              </a:rPr>
              <a:t>SOFTWARE REQUIREMENTS</a:t>
            </a:r>
            <a:endParaRPr sz="2645"/>
          </a:p>
        </p:txBody>
      </p:sp>
      <p:sp>
        <p:nvSpPr>
          <p:cNvPr id="88" name="Google Shape;88;p17"/>
          <p:cNvSpPr txBox="1"/>
          <p:nvPr>
            <p:ph idx="1" type="body"/>
          </p:nvPr>
        </p:nvSpPr>
        <p:spPr>
          <a:xfrm>
            <a:off x="166925" y="544500"/>
            <a:ext cx="8516100" cy="22995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935"/>
              <a:buNone/>
            </a:pPr>
            <a:r>
              <a:rPr lang="en-GB" sz="1135">
                <a:latin typeface="Arial"/>
                <a:ea typeface="Arial"/>
                <a:cs typeface="Arial"/>
                <a:sym typeface="Arial"/>
              </a:rPr>
              <a:t>Operating System : Windows 10 / Windows 11</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Programming Language : Python</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IDE : Jupyter Notebook</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Libraries :</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 Pandas</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 NumPy</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 Matplotlib</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lang="en-GB" sz="1135">
                <a:latin typeface="Arial"/>
                <a:ea typeface="Arial"/>
                <a:cs typeface="Arial"/>
                <a:sym typeface="Arial"/>
              </a:rPr>
              <a:t>Dataset Format : CSV</a:t>
            </a:r>
            <a:endParaRPr sz="1135">
              <a:latin typeface="Arial"/>
              <a:ea typeface="Arial"/>
              <a:cs typeface="Arial"/>
              <a:sym typeface="Arial"/>
            </a:endParaRPr>
          </a:p>
          <a:p>
            <a:pPr indent="0" lvl="0" marL="0" rtl="0" algn="l">
              <a:lnSpc>
                <a:spcPct val="95000"/>
              </a:lnSpc>
              <a:spcBef>
                <a:spcPts val="1200"/>
              </a:spcBef>
              <a:spcAft>
                <a:spcPts val="0"/>
              </a:spcAft>
              <a:buSzPts val="935"/>
              <a:buNone/>
            </a:pPr>
            <a:r>
              <a:rPr b="1" lang="en-GB" sz="2635"/>
              <a:t>HARDWARE REQUIREMENTS</a:t>
            </a:r>
            <a:endParaRPr b="1" sz="2635"/>
          </a:p>
          <a:p>
            <a:pPr indent="0" lvl="0" marL="0" rtl="0" algn="l">
              <a:spcBef>
                <a:spcPts val="1200"/>
              </a:spcBef>
              <a:spcAft>
                <a:spcPts val="0"/>
              </a:spcAft>
              <a:buNone/>
            </a:pPr>
            <a:r>
              <a:rPr lang="en-GB" sz="1100"/>
              <a:t>Processor : Intel Core i3/i5/i7</a:t>
            </a:r>
            <a:endParaRPr sz="1100"/>
          </a:p>
          <a:p>
            <a:pPr indent="0" lvl="0" marL="0" rtl="0" algn="l">
              <a:spcBef>
                <a:spcPts val="1200"/>
              </a:spcBef>
              <a:spcAft>
                <a:spcPts val="0"/>
              </a:spcAft>
              <a:buNone/>
            </a:pPr>
            <a:r>
              <a:rPr lang="en-GB" sz="1100"/>
              <a:t>RAM : Minimum 4 GB</a:t>
            </a:r>
            <a:endParaRPr sz="1100"/>
          </a:p>
          <a:p>
            <a:pPr indent="0" lvl="0" marL="0" rtl="0" algn="l">
              <a:spcBef>
                <a:spcPts val="1200"/>
              </a:spcBef>
              <a:spcAft>
                <a:spcPts val="0"/>
              </a:spcAft>
              <a:buNone/>
            </a:pPr>
            <a:r>
              <a:rPr lang="en-GB" sz="1100"/>
              <a:t>Storage : Minimum 1 GB Free Space</a:t>
            </a:r>
            <a:endParaRPr sz="1100"/>
          </a:p>
          <a:p>
            <a:pPr indent="0" lvl="0" marL="0" rtl="0" algn="l">
              <a:lnSpc>
                <a:spcPct val="95000"/>
              </a:lnSpc>
              <a:spcBef>
                <a:spcPts val="1200"/>
              </a:spcBef>
              <a:spcAft>
                <a:spcPts val="0"/>
              </a:spcAft>
              <a:buSzPts val="935"/>
              <a:buNone/>
            </a:pPr>
            <a:r>
              <a:t/>
            </a:r>
            <a:endParaRPr b="1" sz="1100"/>
          </a:p>
          <a:p>
            <a:pPr indent="0" lvl="0" marL="0" rtl="0" algn="l">
              <a:lnSpc>
                <a:spcPct val="95000"/>
              </a:lnSpc>
              <a:spcBef>
                <a:spcPts val="1200"/>
              </a:spcBef>
              <a:spcAft>
                <a:spcPts val="1200"/>
              </a:spcAft>
              <a:buSzPts val="935"/>
              <a:buNone/>
            </a:pPr>
            <a:r>
              <a:t/>
            </a:r>
            <a:endParaRPr sz="153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ARCHITECTURE</a:t>
            </a:r>
            <a:endParaRPr/>
          </a:p>
        </p:txBody>
      </p:sp>
      <p:sp>
        <p:nvSpPr>
          <p:cNvPr id="94" name="Google Shape;94;p18"/>
          <p:cNvSpPr txBox="1"/>
          <p:nvPr>
            <p:ph idx="1" type="body"/>
          </p:nvPr>
        </p:nvSpPr>
        <p:spPr>
          <a:xfrm>
            <a:off x="387900" y="1410550"/>
            <a:ext cx="8368200" cy="34221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1018"/>
              <a:buNone/>
            </a:pPr>
            <a:r>
              <a:rPr lang="en-GB" sz="1218">
                <a:latin typeface="Arial"/>
                <a:ea typeface="Arial"/>
                <a:cs typeface="Arial"/>
                <a:sym typeface="Arial"/>
              </a:rPr>
              <a:t>The architecture of the </a:t>
            </a:r>
            <a:r>
              <a:rPr b="1" lang="en-GB" sz="1218">
                <a:latin typeface="Arial"/>
                <a:ea typeface="Arial"/>
                <a:cs typeface="Arial"/>
                <a:sym typeface="Arial"/>
              </a:rPr>
              <a:t>Drug Sales Analysis using Python, Pandas, NumPy, and Matplotlib</a:t>
            </a:r>
            <a:r>
              <a:rPr lang="en-GB" sz="1218">
                <a:latin typeface="Arial"/>
                <a:ea typeface="Arial"/>
                <a:cs typeface="Arial"/>
                <a:sym typeface="Arial"/>
              </a:rPr>
              <a:t> involves several key steps that transform raw pharmaceutical data into meaningful insights.</a:t>
            </a:r>
            <a:endParaRPr sz="1218">
              <a:latin typeface="Arial"/>
              <a:ea typeface="Arial"/>
              <a:cs typeface="Arial"/>
              <a:sym typeface="Arial"/>
            </a:endParaRPr>
          </a:p>
          <a:p>
            <a:pPr indent="0" lvl="0" marL="0" rtl="0" algn="l">
              <a:lnSpc>
                <a:spcPct val="95000"/>
              </a:lnSpc>
              <a:spcBef>
                <a:spcPts val="1200"/>
              </a:spcBef>
              <a:spcAft>
                <a:spcPts val="0"/>
              </a:spcAft>
              <a:buSzPts val="1018"/>
              <a:buNone/>
            </a:pPr>
            <a:r>
              <a:rPr lang="en-GB" sz="1218">
                <a:latin typeface="Arial"/>
                <a:ea typeface="Arial"/>
                <a:cs typeface="Arial"/>
                <a:sym typeface="Arial"/>
              </a:rPr>
              <a:t>The process includes </a:t>
            </a:r>
            <a:r>
              <a:rPr b="1" lang="en-GB" sz="1218">
                <a:latin typeface="Arial"/>
                <a:ea typeface="Arial"/>
                <a:cs typeface="Arial"/>
                <a:sym typeface="Arial"/>
              </a:rPr>
              <a:t>data import, data preprocessing, data analysis, statistical operations, and data visualization</a:t>
            </a:r>
            <a:r>
              <a:rPr lang="en-GB" sz="1218">
                <a:latin typeface="Arial"/>
                <a:ea typeface="Arial"/>
                <a:cs typeface="Arial"/>
                <a:sym typeface="Arial"/>
              </a:rPr>
              <a:t>.</a:t>
            </a:r>
            <a:endParaRPr sz="1218">
              <a:latin typeface="Arial"/>
              <a:ea typeface="Arial"/>
              <a:cs typeface="Arial"/>
              <a:sym typeface="Arial"/>
            </a:endParaRPr>
          </a:p>
          <a:p>
            <a:pPr indent="0" lvl="0" marL="0" rtl="0" algn="l">
              <a:lnSpc>
                <a:spcPct val="95000"/>
              </a:lnSpc>
              <a:spcBef>
                <a:spcPts val="1200"/>
              </a:spcBef>
              <a:spcAft>
                <a:spcPts val="0"/>
              </a:spcAft>
              <a:buSzPts val="1018"/>
              <a:buNone/>
            </a:pPr>
            <a:r>
              <a:rPr b="1" lang="en-GB" sz="1218">
                <a:latin typeface="Arial"/>
                <a:ea typeface="Arial"/>
                <a:cs typeface="Arial"/>
                <a:sym typeface="Arial"/>
              </a:rPr>
              <a:t>Let's explore the architecture in more detail:</a:t>
            </a:r>
            <a:endParaRPr b="1" sz="1218">
              <a:latin typeface="Arial"/>
              <a:ea typeface="Arial"/>
              <a:cs typeface="Arial"/>
              <a:sym typeface="Arial"/>
            </a:endParaRPr>
          </a:p>
          <a:p>
            <a:pPr indent="-305911" lvl="0" marL="457200" rtl="0" algn="l">
              <a:lnSpc>
                <a:spcPct val="95000"/>
              </a:lnSpc>
              <a:spcBef>
                <a:spcPts val="1200"/>
              </a:spcBef>
              <a:spcAft>
                <a:spcPts val="0"/>
              </a:spcAft>
              <a:buClr>
                <a:schemeClr val="dk1"/>
              </a:buClr>
              <a:buSzPts val="1218"/>
              <a:buFont typeface="Arial"/>
              <a:buChar char="●"/>
            </a:pPr>
            <a:r>
              <a:rPr b="1" lang="en-GB" sz="1218">
                <a:latin typeface="Arial"/>
                <a:ea typeface="Arial"/>
                <a:cs typeface="Arial"/>
                <a:sym typeface="Arial"/>
              </a:rPr>
              <a:t>IMPORTING DATASET</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EXPLORATION</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CLEANING</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FILTERING</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GROUPING</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SORTING</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AGGREGATION FUNCTIONS</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QUERY ANALYSIS</a:t>
            </a:r>
            <a:endParaRPr b="1" sz="1218">
              <a:latin typeface="Arial"/>
              <a:ea typeface="Arial"/>
              <a:cs typeface="Arial"/>
              <a:sym typeface="Arial"/>
            </a:endParaRPr>
          </a:p>
          <a:p>
            <a:pPr indent="-305911" lvl="0" marL="457200" rtl="0" algn="l">
              <a:lnSpc>
                <a:spcPct val="95000"/>
              </a:lnSpc>
              <a:spcBef>
                <a:spcPts val="0"/>
              </a:spcBef>
              <a:spcAft>
                <a:spcPts val="0"/>
              </a:spcAft>
              <a:buClr>
                <a:schemeClr val="dk1"/>
              </a:buClr>
              <a:buSzPts val="1218"/>
              <a:buFont typeface="Arial"/>
              <a:buChar char="●"/>
            </a:pPr>
            <a:r>
              <a:rPr b="1" lang="en-GB" sz="1218">
                <a:latin typeface="Arial"/>
                <a:ea typeface="Arial"/>
                <a:cs typeface="Arial"/>
                <a:sym typeface="Arial"/>
              </a:rPr>
              <a:t>DATA VISUALIZATION</a:t>
            </a:r>
            <a:endParaRPr b="1" sz="1218">
              <a:latin typeface="Arial"/>
              <a:ea typeface="Arial"/>
              <a:cs typeface="Arial"/>
              <a:sym typeface="Arial"/>
            </a:endParaRPr>
          </a:p>
          <a:p>
            <a:pPr indent="0" lvl="0" marL="0" rtl="0" algn="l">
              <a:lnSpc>
                <a:spcPct val="95000"/>
              </a:lnSpc>
              <a:spcBef>
                <a:spcPts val="1200"/>
              </a:spcBef>
              <a:spcAft>
                <a:spcPts val="1200"/>
              </a:spcAft>
              <a:buSzPts val="1018"/>
              <a:buNone/>
            </a:pPr>
            <a:r>
              <a:t/>
            </a:r>
            <a:endParaRPr sz="1665"/>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IMPORTING DATASET</a:t>
            </a:r>
            <a:endParaRPr/>
          </a:p>
        </p:txBody>
      </p:sp>
      <p:sp>
        <p:nvSpPr>
          <p:cNvPr id="100" name="Google Shape;100;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The dataset is imported into Python using the Pandas library. The CSV file is loaded into a DataFrame for further analysis.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GB"/>
              <a:t>                              </a:t>
            </a:r>
            <a:endParaRPr/>
          </a:p>
        </p:txBody>
      </p:sp>
      <p:pic>
        <p:nvPicPr>
          <p:cNvPr id="101" name="Google Shape;101;p19" title="Screenshot 2026-07-13 194437.png"/>
          <p:cNvPicPr preferRelativeResize="0"/>
          <p:nvPr/>
        </p:nvPicPr>
        <p:blipFill rotWithShape="1">
          <a:blip r:embed="rId3">
            <a:alphaModFix/>
          </a:blip>
          <a:srcRect b="-6391" l="-4136" r="-13705" t="-4572"/>
          <a:stretch/>
        </p:blipFill>
        <p:spPr>
          <a:xfrm>
            <a:off x="636425" y="2339100"/>
            <a:ext cx="7095600" cy="2535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EXPLORATION</a:t>
            </a:r>
            <a:endParaRPr/>
          </a:p>
        </p:txBody>
      </p:sp>
      <p:sp>
        <p:nvSpPr>
          <p:cNvPr id="107" name="Google Shape;107;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 exploration helps understand the structure, size, and quality of the dataset before analysis. </a:t>
            </a:r>
            <a:endParaRPr/>
          </a:p>
          <a:p>
            <a:pPr indent="0" lvl="0" marL="0" rtl="0" algn="l">
              <a:spcBef>
                <a:spcPts val="1200"/>
              </a:spcBef>
              <a:spcAft>
                <a:spcPts val="1200"/>
              </a:spcAft>
              <a:buNone/>
            </a:pPr>
            <a:r>
              <a:t/>
            </a:r>
            <a:endParaRPr/>
          </a:p>
        </p:txBody>
      </p:sp>
      <p:pic>
        <p:nvPicPr>
          <p:cNvPr id="108" name="Google Shape;108;p20" title="Screenshot 2026-07-13 214824.png"/>
          <p:cNvPicPr preferRelativeResize="0"/>
          <p:nvPr/>
        </p:nvPicPr>
        <p:blipFill rotWithShape="1">
          <a:blip r:embed="rId3">
            <a:alphaModFix/>
          </a:blip>
          <a:srcRect b="0" l="-1215" r="0" t="-8213"/>
          <a:stretch/>
        </p:blipFill>
        <p:spPr>
          <a:xfrm>
            <a:off x="2472625" y="2255625"/>
            <a:ext cx="3484650" cy="2474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CLEANING</a:t>
            </a:r>
            <a:endParaRPr/>
          </a:p>
        </p:txBody>
      </p:sp>
      <p:sp>
        <p:nvSpPr>
          <p:cNvPr id="114" name="Google Shape;114;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
            </a:r>
            <a:r>
              <a:rPr lang="en-GB"/>
              <a:t>ata cleaning removes inconsistencies and improves the quality of the dataset for accurate analysis. </a:t>
            </a:r>
            <a:endParaRPr/>
          </a:p>
          <a:p>
            <a:pPr indent="0" lvl="0" marL="0" rtl="0" algn="l">
              <a:spcBef>
                <a:spcPts val="1200"/>
              </a:spcBef>
              <a:spcAft>
                <a:spcPts val="1200"/>
              </a:spcAft>
              <a:buNone/>
            </a:pPr>
            <a:r>
              <a:t/>
            </a:r>
            <a:endParaRPr/>
          </a:p>
        </p:txBody>
      </p:sp>
      <p:pic>
        <p:nvPicPr>
          <p:cNvPr id="115" name="Google Shape;115;p21" title="Screenshot 2026-07-13 215300.png"/>
          <p:cNvPicPr preferRelativeResize="0"/>
          <p:nvPr/>
        </p:nvPicPr>
        <p:blipFill>
          <a:blip r:embed="rId3">
            <a:alphaModFix/>
          </a:blip>
          <a:stretch>
            <a:fillRect/>
          </a:stretch>
        </p:blipFill>
        <p:spPr>
          <a:xfrm>
            <a:off x="1825375" y="2494063"/>
            <a:ext cx="5305425" cy="1876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type="title"/>
          </p:nvPr>
        </p:nvSpPr>
        <p:spPr>
          <a:xfrm>
            <a:off x="387900" y="12465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FILTERING</a:t>
            </a:r>
            <a:endParaRPr/>
          </a:p>
        </p:txBody>
      </p:sp>
      <p:sp>
        <p:nvSpPr>
          <p:cNvPr id="121" name="Google Shape;121;p22"/>
          <p:cNvSpPr txBox="1"/>
          <p:nvPr>
            <p:ph idx="1" type="body"/>
          </p:nvPr>
        </p:nvSpPr>
        <p:spPr>
          <a:xfrm>
            <a:off x="387900" y="965949"/>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Filtering is used to retrieve only the required records from the dataset based on specific conditions. </a:t>
            </a:r>
            <a:endParaRPr/>
          </a:p>
          <a:p>
            <a:pPr indent="0" lvl="0" marL="0" rtl="0" algn="l">
              <a:spcBef>
                <a:spcPts val="1200"/>
              </a:spcBef>
              <a:spcAft>
                <a:spcPts val="1200"/>
              </a:spcAft>
              <a:buNone/>
            </a:pPr>
            <a:r>
              <a:t/>
            </a:r>
            <a:endParaRPr/>
          </a:p>
        </p:txBody>
      </p:sp>
      <p:pic>
        <p:nvPicPr>
          <p:cNvPr id="122" name="Google Shape;122;p22" title="Screenshot 2026-07-13 215526.png"/>
          <p:cNvPicPr preferRelativeResize="0"/>
          <p:nvPr/>
        </p:nvPicPr>
        <p:blipFill rotWithShape="1">
          <a:blip r:embed="rId3">
            <a:alphaModFix/>
          </a:blip>
          <a:srcRect b="3350" l="0" r="0" t="3350"/>
          <a:stretch/>
        </p:blipFill>
        <p:spPr>
          <a:xfrm>
            <a:off x="1605175" y="1990725"/>
            <a:ext cx="6570499" cy="2535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type="title"/>
          </p:nvPr>
        </p:nvSpPr>
        <p:spPr>
          <a:xfrm>
            <a:off x="387900" y="16035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GROUPING</a:t>
            </a:r>
            <a:endParaRPr/>
          </a:p>
        </p:txBody>
      </p:sp>
      <p:sp>
        <p:nvSpPr>
          <p:cNvPr id="128" name="Google Shape;128;p23"/>
          <p:cNvSpPr txBox="1"/>
          <p:nvPr>
            <p:ph idx="1" type="body"/>
          </p:nvPr>
        </p:nvSpPr>
        <p:spPr>
          <a:xfrm>
            <a:off x="233125" y="1032299"/>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Grouping combines records based on common attributes and calculates summary statistics. </a:t>
            </a:r>
            <a:endParaRPr/>
          </a:p>
          <a:p>
            <a:pPr indent="0" lvl="0" marL="0" rtl="0" algn="l">
              <a:spcBef>
                <a:spcPts val="1200"/>
              </a:spcBef>
              <a:spcAft>
                <a:spcPts val="1200"/>
              </a:spcAft>
              <a:buNone/>
            </a:pPr>
            <a:r>
              <a:t/>
            </a:r>
            <a:endParaRPr/>
          </a:p>
        </p:txBody>
      </p:sp>
      <p:pic>
        <p:nvPicPr>
          <p:cNvPr id="129" name="Google Shape;129;p23" title="Screenshot 2026-07-13 215932.png"/>
          <p:cNvPicPr preferRelativeResize="0"/>
          <p:nvPr/>
        </p:nvPicPr>
        <p:blipFill>
          <a:blip r:embed="rId3">
            <a:alphaModFix/>
          </a:blip>
          <a:stretch>
            <a:fillRect/>
          </a:stretch>
        </p:blipFill>
        <p:spPr>
          <a:xfrm>
            <a:off x="1846677" y="1907375"/>
            <a:ext cx="6166376" cy="3019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387900" y="19720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STATISTICAL ANALYSIS</a:t>
            </a:r>
            <a:endParaRPr/>
          </a:p>
        </p:txBody>
      </p:sp>
      <p:sp>
        <p:nvSpPr>
          <p:cNvPr id="135" name="Google Shape;135;p24"/>
          <p:cNvSpPr txBox="1"/>
          <p:nvPr>
            <p:ph idx="1" type="body"/>
          </p:nvPr>
        </p:nvSpPr>
        <p:spPr>
          <a:xfrm>
            <a:off x="314875" y="1032299"/>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Statistical analysis is performed to summarize and understand the numerical characteristics of the drug sales dataset. Various statistical measures are calculated to analyze data distribution and support meaningful decision-making. </a:t>
            </a:r>
            <a:endParaRPr/>
          </a:p>
          <a:p>
            <a:pPr indent="0" lvl="0" marL="0" rtl="0" algn="l">
              <a:spcBef>
                <a:spcPts val="1200"/>
              </a:spcBef>
              <a:spcAft>
                <a:spcPts val="1200"/>
              </a:spcAft>
              <a:buNone/>
            </a:pPr>
            <a:r>
              <a:t/>
            </a:r>
            <a:endParaRPr/>
          </a:p>
        </p:txBody>
      </p:sp>
      <p:pic>
        <p:nvPicPr>
          <p:cNvPr id="136" name="Google Shape;136;p24" title="Screenshot 2026-07-13 220537.png"/>
          <p:cNvPicPr preferRelativeResize="0"/>
          <p:nvPr/>
        </p:nvPicPr>
        <p:blipFill>
          <a:blip r:embed="rId3">
            <a:alphaModFix/>
          </a:blip>
          <a:stretch>
            <a:fillRect/>
          </a:stretch>
        </p:blipFill>
        <p:spPr>
          <a:xfrm>
            <a:off x="2037285" y="2331800"/>
            <a:ext cx="5340675" cy="2505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210525" y="13460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QUERY ANALYSIS</a:t>
            </a:r>
            <a:endParaRPr/>
          </a:p>
        </p:txBody>
      </p:sp>
      <p:sp>
        <p:nvSpPr>
          <p:cNvPr id="142" name="Google Shape;142;p25"/>
          <p:cNvSpPr txBox="1"/>
          <p:nvPr>
            <p:ph idx="1" type="body"/>
          </p:nvPr>
        </p:nvSpPr>
        <p:spPr>
          <a:xfrm>
            <a:off x="304425" y="863849"/>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Query analysis is performed to extract meaningful insights from the drug sales dataset. Different queries are executed to identify the most prescribed drugs, drug groups, pharmacies, companies, doctors, patients, seasonal distribution, reporting status, and overall dataset statistics. </a:t>
            </a:r>
            <a:endParaRPr/>
          </a:p>
        </p:txBody>
      </p:sp>
      <p:pic>
        <p:nvPicPr>
          <p:cNvPr id="143" name="Google Shape;143;p25" title="Screenshot 2026-07-13 221039.png"/>
          <p:cNvPicPr preferRelativeResize="0"/>
          <p:nvPr/>
        </p:nvPicPr>
        <p:blipFill>
          <a:blip r:embed="rId3">
            <a:alphaModFix/>
          </a:blip>
          <a:stretch>
            <a:fillRect/>
          </a:stretch>
        </p:blipFill>
        <p:spPr>
          <a:xfrm>
            <a:off x="3094663" y="2290775"/>
            <a:ext cx="2787725" cy="2781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292650" y="12465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DATA VISUALIZATION</a:t>
            </a:r>
            <a:endParaRPr/>
          </a:p>
        </p:txBody>
      </p:sp>
      <p:sp>
        <p:nvSpPr>
          <p:cNvPr id="149" name="Google Shape;149;p26"/>
          <p:cNvSpPr txBox="1"/>
          <p:nvPr>
            <p:ph idx="1" type="body"/>
          </p:nvPr>
        </p:nvSpPr>
        <p:spPr>
          <a:xfrm>
            <a:off x="197400" y="8656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Data visualization is used to represent drug sales data in graphical form. It helps identify trends, compare categories, and understand the dataset more effectively using different types of charts. </a:t>
            </a:r>
            <a:endParaRPr/>
          </a:p>
        </p:txBody>
      </p:sp>
      <p:pic>
        <p:nvPicPr>
          <p:cNvPr id="150" name="Google Shape;150;p26" title="Screenshot 2026-07-13 221650.png"/>
          <p:cNvPicPr preferRelativeResize="0"/>
          <p:nvPr/>
        </p:nvPicPr>
        <p:blipFill rotWithShape="1">
          <a:blip r:embed="rId3">
            <a:alphaModFix/>
          </a:blip>
          <a:srcRect b="80" l="0" r="0" t="80"/>
          <a:stretch/>
        </p:blipFill>
        <p:spPr>
          <a:xfrm>
            <a:off x="1190625" y="1943100"/>
            <a:ext cx="7096126" cy="3200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16475" y="38660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56" name="Google Shape;156;p27"/>
          <p:cNvSpPr txBox="1"/>
          <p:nvPr>
            <p:ph idx="1" type="body"/>
          </p:nvPr>
        </p:nvSpPr>
        <p:spPr>
          <a:xfrm>
            <a:off x="559600" y="4497000"/>
            <a:ext cx="77628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2700"/>
              <a:t>     PIE CHART                                           BOXPLOT</a:t>
            </a:r>
            <a:endParaRPr sz="2700"/>
          </a:p>
        </p:txBody>
      </p:sp>
      <p:pic>
        <p:nvPicPr>
          <p:cNvPr id="157" name="Google Shape;157;p27" title="Screenshot 2026-07-13 221938.png"/>
          <p:cNvPicPr preferRelativeResize="0"/>
          <p:nvPr/>
        </p:nvPicPr>
        <p:blipFill rotWithShape="1">
          <a:blip r:embed="rId3">
            <a:alphaModFix/>
          </a:blip>
          <a:srcRect b="-1179" l="-389" r="5575" t="-488"/>
          <a:stretch/>
        </p:blipFill>
        <p:spPr>
          <a:xfrm>
            <a:off x="0" y="-15487"/>
            <a:ext cx="4155276" cy="4512475"/>
          </a:xfrm>
          <a:prstGeom prst="rect">
            <a:avLst/>
          </a:prstGeom>
          <a:noFill/>
          <a:ln>
            <a:noFill/>
          </a:ln>
        </p:spPr>
      </p:pic>
      <p:pic>
        <p:nvPicPr>
          <p:cNvPr id="158" name="Google Shape;158;p27" title="Screenshot 2026-07-13 221949.png"/>
          <p:cNvPicPr preferRelativeResize="0"/>
          <p:nvPr/>
        </p:nvPicPr>
        <p:blipFill>
          <a:blip r:embed="rId4">
            <a:alphaModFix/>
          </a:blip>
          <a:stretch>
            <a:fillRect/>
          </a:stretch>
        </p:blipFill>
        <p:spPr>
          <a:xfrm>
            <a:off x="4155274" y="21438"/>
            <a:ext cx="4993474" cy="4438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8"/>
          <p:cNvSpPr txBox="1"/>
          <p:nvPr>
            <p:ph type="title"/>
          </p:nvPr>
        </p:nvSpPr>
        <p:spPr>
          <a:xfrm>
            <a:off x="387900" y="0"/>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USES OF DATA </a:t>
            </a:r>
            <a:r>
              <a:rPr lang="en-GB"/>
              <a:t>ANALYSIS</a:t>
            </a:r>
            <a:r>
              <a:rPr lang="en-GB"/>
              <a:t> LIBRARIES</a:t>
            </a:r>
            <a:endParaRPr/>
          </a:p>
        </p:txBody>
      </p:sp>
      <p:sp>
        <p:nvSpPr>
          <p:cNvPr id="164" name="Google Shape;164;p28"/>
          <p:cNvSpPr txBox="1"/>
          <p:nvPr>
            <p:ph idx="1" type="body"/>
          </p:nvPr>
        </p:nvSpPr>
        <p:spPr>
          <a:xfrm>
            <a:off x="256950" y="799250"/>
            <a:ext cx="2934000" cy="4227600"/>
          </a:xfrm>
          <a:prstGeom prst="rect">
            <a:avLst/>
          </a:prstGeom>
          <a:solidFill>
            <a:srgbClr val="F4CCCC"/>
          </a:solidFill>
        </p:spPr>
        <p:txBody>
          <a:bodyPr anchorCtr="0" anchor="t" bIns="91425" lIns="91425" spcFirstLastPara="1" rIns="91425" wrap="square" tIns="91425">
            <a:noAutofit/>
          </a:bodyPr>
          <a:lstStyle/>
          <a:p>
            <a:pPr indent="0" lvl="0" marL="0" rtl="0" algn="l">
              <a:spcBef>
                <a:spcPts val="1800"/>
              </a:spcBef>
              <a:spcAft>
                <a:spcPts val="0"/>
              </a:spcAft>
              <a:buNone/>
            </a:pPr>
            <a:r>
              <a:rPr b="1" lang="en-GB" sz="2400">
                <a:latin typeface="Arial"/>
                <a:ea typeface="Arial"/>
                <a:cs typeface="Arial"/>
                <a:sym typeface="Arial"/>
              </a:rPr>
              <a:t>PANDAS</a:t>
            </a:r>
            <a:endParaRPr b="1" sz="2400">
              <a:latin typeface="Arial"/>
              <a:ea typeface="Arial"/>
              <a:cs typeface="Arial"/>
              <a:sym typeface="Arial"/>
            </a:endParaRPr>
          </a:p>
          <a:p>
            <a:pPr indent="-342900" lvl="0" marL="457200" rtl="0" algn="l">
              <a:spcBef>
                <a:spcPts val="1200"/>
              </a:spcBef>
              <a:spcAft>
                <a:spcPts val="0"/>
              </a:spcAft>
              <a:buClr>
                <a:schemeClr val="dk1"/>
              </a:buClr>
              <a:buSzPts val="1800"/>
              <a:buFont typeface="Arial"/>
              <a:buChar char="●"/>
            </a:pPr>
            <a:r>
              <a:rPr lang="en-GB">
                <a:latin typeface="Arial"/>
                <a:ea typeface="Arial"/>
                <a:cs typeface="Arial"/>
                <a:sym typeface="Arial"/>
              </a:rPr>
              <a:t>Used to read CSV files.</a:t>
            </a:r>
            <a:endParaRPr>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latin typeface="Arial"/>
                <a:ea typeface="Arial"/>
                <a:cs typeface="Arial"/>
                <a:sym typeface="Arial"/>
              </a:rPr>
              <a:t>Performs data cleaning, filtering, grouping, and sorting.</a:t>
            </a:r>
            <a:endParaRPr>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latin typeface="Arial"/>
                <a:ea typeface="Arial"/>
                <a:cs typeface="Arial"/>
                <a:sym typeface="Arial"/>
              </a:rPr>
              <a:t>Provides functions like </a:t>
            </a:r>
            <a:r>
              <a:rPr lang="en-GB">
                <a:latin typeface="Roboto Mono"/>
                <a:ea typeface="Roboto Mono"/>
                <a:cs typeface="Roboto Mono"/>
                <a:sym typeface="Roboto Mono"/>
              </a:rPr>
              <a:t>head()</a:t>
            </a:r>
            <a:r>
              <a:rPr lang="en-GB">
                <a:latin typeface="Arial"/>
                <a:ea typeface="Arial"/>
                <a:cs typeface="Arial"/>
                <a:sym typeface="Arial"/>
              </a:rPr>
              <a:t>, </a:t>
            </a:r>
            <a:r>
              <a:rPr lang="en-GB">
                <a:latin typeface="Roboto Mono"/>
                <a:ea typeface="Roboto Mono"/>
                <a:cs typeface="Roboto Mono"/>
                <a:sym typeface="Roboto Mono"/>
              </a:rPr>
              <a:t>info()</a:t>
            </a:r>
            <a:r>
              <a:rPr lang="en-GB">
                <a:latin typeface="Arial"/>
                <a:ea typeface="Arial"/>
                <a:cs typeface="Arial"/>
                <a:sym typeface="Arial"/>
              </a:rPr>
              <a:t>, and </a:t>
            </a:r>
            <a:r>
              <a:rPr lang="en-GB">
                <a:latin typeface="Roboto Mono"/>
                <a:ea typeface="Roboto Mono"/>
                <a:cs typeface="Roboto Mono"/>
                <a:sym typeface="Roboto Mono"/>
              </a:rPr>
              <a:t>describe()</a:t>
            </a:r>
            <a:r>
              <a:rPr lang="en-GB">
                <a:latin typeface="Arial"/>
                <a:ea typeface="Arial"/>
                <a:cs typeface="Arial"/>
                <a:sym typeface="Arial"/>
              </a:rPr>
              <a:t>.</a:t>
            </a:r>
            <a:endParaRPr>
              <a:latin typeface="Arial"/>
              <a:ea typeface="Arial"/>
              <a:cs typeface="Arial"/>
              <a:sym typeface="Arial"/>
            </a:endParaRPr>
          </a:p>
          <a:p>
            <a:pPr indent="-342900" lvl="0" marL="457200" rtl="0" algn="l">
              <a:spcBef>
                <a:spcPts val="0"/>
              </a:spcBef>
              <a:spcAft>
                <a:spcPts val="0"/>
              </a:spcAft>
              <a:buClr>
                <a:schemeClr val="dk1"/>
              </a:buClr>
              <a:buSzPts val="1800"/>
              <a:buFont typeface="Arial"/>
              <a:buChar char="●"/>
            </a:pPr>
            <a:r>
              <a:rPr lang="en-GB">
                <a:latin typeface="Arial"/>
                <a:ea typeface="Arial"/>
                <a:cs typeface="Arial"/>
                <a:sym typeface="Arial"/>
              </a:rPr>
              <a:t>Main library for data manipulation and analysis.</a:t>
            </a:r>
            <a:endParaRPr>
              <a:latin typeface="Arial"/>
              <a:ea typeface="Arial"/>
              <a:cs typeface="Arial"/>
              <a:sym typeface="Arial"/>
            </a:endParaRPr>
          </a:p>
          <a:p>
            <a:pPr indent="0" lvl="0" marL="0" rtl="0" algn="l">
              <a:spcBef>
                <a:spcPts val="1200"/>
              </a:spcBef>
              <a:spcAft>
                <a:spcPts val="1200"/>
              </a:spcAft>
              <a:buNone/>
            </a:pPr>
            <a:r>
              <a:t/>
            </a:r>
            <a:endParaRPr sz="3200"/>
          </a:p>
        </p:txBody>
      </p:sp>
      <p:sp>
        <p:nvSpPr>
          <p:cNvPr id="165" name="Google Shape;165;p28"/>
          <p:cNvSpPr/>
          <p:nvPr/>
        </p:nvSpPr>
        <p:spPr>
          <a:xfrm>
            <a:off x="3321850" y="804500"/>
            <a:ext cx="2934000" cy="4180200"/>
          </a:xfrm>
          <a:prstGeom prst="rect">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66" name="Google Shape;166;p28"/>
          <p:cNvSpPr/>
          <p:nvPr/>
        </p:nvSpPr>
        <p:spPr>
          <a:xfrm>
            <a:off x="6386750" y="780800"/>
            <a:ext cx="2685900" cy="4227600"/>
          </a:xfrm>
          <a:prstGeom prst="rect">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67" name="Google Shape;167;p28"/>
          <p:cNvSpPr txBox="1"/>
          <p:nvPr/>
        </p:nvSpPr>
        <p:spPr>
          <a:xfrm>
            <a:off x="3417100" y="919150"/>
            <a:ext cx="2685900" cy="389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GB" sz="2300">
                <a:solidFill>
                  <a:schemeClr val="dk1"/>
                </a:solidFill>
              </a:rPr>
              <a:t>NUMPY</a:t>
            </a:r>
            <a:endParaRPr b="1" sz="23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Used for numerical and mathematical operations.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Handles missing values using </a:t>
            </a:r>
            <a:r>
              <a:rPr lang="en-GB" sz="1700">
                <a:solidFill>
                  <a:schemeClr val="dk1"/>
                </a:solidFill>
                <a:latin typeface="Roboto Mono"/>
                <a:ea typeface="Roboto Mono"/>
                <a:cs typeface="Roboto Mono"/>
                <a:sym typeface="Roboto Mono"/>
              </a:rPr>
              <a:t>NaN</a:t>
            </a:r>
            <a:r>
              <a:rPr lang="en-GB"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Performs statistical calculations efficiently.</a:t>
            </a:r>
            <a:endParaRPr sz="1700">
              <a:solidFill>
                <a:schemeClr val="dk1"/>
              </a:solidFill>
            </a:endParaRPr>
          </a:p>
          <a:p>
            <a:pPr indent="-298450" lvl="0" marL="457200" rtl="0" algn="l">
              <a:lnSpc>
                <a:spcPct val="115000"/>
              </a:lnSpc>
              <a:spcBef>
                <a:spcPts val="0"/>
              </a:spcBef>
              <a:spcAft>
                <a:spcPts val="0"/>
              </a:spcAft>
              <a:buSzPts val="1100"/>
              <a:buChar char="●"/>
            </a:pPr>
            <a:r>
              <a:rPr lang="en-GB" sz="1700">
                <a:solidFill>
                  <a:schemeClr val="dk1"/>
                </a:solidFill>
              </a:rPr>
              <a:t>Supports fast array and numerical processing</a:t>
            </a:r>
            <a:r>
              <a:rPr lang="en-GB" sz="1100"/>
              <a:t>.</a:t>
            </a:r>
            <a:endParaRPr sz="1100"/>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
        <p:nvSpPr>
          <p:cNvPr id="168" name="Google Shape;168;p28"/>
          <p:cNvSpPr txBox="1"/>
          <p:nvPr/>
        </p:nvSpPr>
        <p:spPr>
          <a:xfrm>
            <a:off x="6500825" y="933450"/>
            <a:ext cx="2488500" cy="400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GB" sz="2300">
                <a:solidFill>
                  <a:schemeClr val="dk1"/>
                </a:solidFill>
              </a:rPr>
              <a:t>MATPLOTLIB</a:t>
            </a:r>
            <a:endParaRPr b="1" sz="23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GB" sz="1700">
                <a:solidFill>
                  <a:schemeClr val="dk1"/>
                </a:solidFill>
              </a:rPr>
              <a:t>Used to create charts and graphs.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Visualizes drug sales data clearly.</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Supports bar charts, pie charts, histograms, and box plots.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GB" sz="1700">
                <a:solidFill>
                  <a:schemeClr val="dk1"/>
                </a:solidFill>
              </a:rPr>
              <a:t>Makes analytical results easy to understand.</a:t>
            </a:r>
            <a:endParaRPr sz="1700">
              <a:solidFill>
                <a:schemeClr val="dk1"/>
              </a:solidFill>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ADVANTAGES</a:t>
            </a:r>
            <a:endParaRPr/>
          </a:p>
        </p:txBody>
      </p:sp>
      <p:sp>
        <p:nvSpPr>
          <p:cNvPr id="174" name="Google Shape;174;p29"/>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n-GB" sz="1660"/>
              <a:t>Makes large drug sales datasets easy to analyze.</a:t>
            </a:r>
            <a:endParaRPr sz="1660"/>
          </a:p>
          <a:p>
            <a:pPr indent="0" lvl="0" marL="0" rtl="0" algn="l">
              <a:lnSpc>
                <a:spcPct val="95000"/>
              </a:lnSpc>
              <a:spcBef>
                <a:spcPts val="1200"/>
              </a:spcBef>
              <a:spcAft>
                <a:spcPts val="0"/>
              </a:spcAft>
              <a:buSzPts val="770"/>
              <a:buNone/>
            </a:pPr>
            <a:r>
              <a:rPr lang="en-GB" sz="1660"/>
              <a:t>Improves data accuracy through data cleaning.</a:t>
            </a:r>
            <a:endParaRPr sz="1660"/>
          </a:p>
          <a:p>
            <a:pPr indent="0" lvl="0" marL="0" rtl="0" algn="l">
              <a:lnSpc>
                <a:spcPct val="95000"/>
              </a:lnSpc>
              <a:spcBef>
                <a:spcPts val="1200"/>
              </a:spcBef>
              <a:spcAft>
                <a:spcPts val="0"/>
              </a:spcAft>
              <a:buSzPts val="770"/>
              <a:buNone/>
            </a:pPr>
            <a:r>
              <a:rPr lang="en-GB" sz="1660"/>
              <a:t>Identifies drug sales trends and distribution patterns.</a:t>
            </a:r>
            <a:endParaRPr sz="1660"/>
          </a:p>
          <a:p>
            <a:pPr indent="0" lvl="0" marL="0" rtl="0" algn="l">
              <a:lnSpc>
                <a:spcPct val="95000"/>
              </a:lnSpc>
              <a:spcBef>
                <a:spcPts val="1200"/>
              </a:spcBef>
              <a:spcAft>
                <a:spcPts val="0"/>
              </a:spcAft>
              <a:buSzPts val="770"/>
              <a:buNone/>
            </a:pPr>
            <a:r>
              <a:rPr lang="en-GB" sz="1660"/>
              <a:t>Provides meaningful insights using statistical analysis.</a:t>
            </a:r>
            <a:endParaRPr sz="1660"/>
          </a:p>
          <a:p>
            <a:pPr indent="0" lvl="0" marL="0" rtl="0" algn="l">
              <a:lnSpc>
                <a:spcPct val="95000"/>
              </a:lnSpc>
              <a:spcBef>
                <a:spcPts val="1200"/>
              </a:spcBef>
              <a:spcAft>
                <a:spcPts val="0"/>
              </a:spcAft>
              <a:buSzPts val="770"/>
              <a:buNone/>
            </a:pPr>
            <a:r>
              <a:rPr lang="en-GB" sz="1660"/>
              <a:t>Presents data clearly through charts and graphs.</a:t>
            </a:r>
            <a:endParaRPr sz="1660"/>
          </a:p>
          <a:p>
            <a:pPr indent="0" lvl="0" marL="0" rtl="0" algn="l">
              <a:lnSpc>
                <a:spcPct val="95000"/>
              </a:lnSpc>
              <a:spcBef>
                <a:spcPts val="1200"/>
              </a:spcBef>
              <a:spcAft>
                <a:spcPts val="0"/>
              </a:spcAft>
              <a:buSzPts val="770"/>
              <a:buNone/>
            </a:pPr>
            <a:r>
              <a:rPr lang="en-GB" sz="1660"/>
              <a:t>Supports better decision-making in pharmaceutical analysis.</a:t>
            </a:r>
            <a:endParaRPr sz="1660"/>
          </a:p>
          <a:p>
            <a:pPr indent="0" lvl="0" marL="0" rtl="0" algn="l">
              <a:lnSpc>
                <a:spcPct val="95000"/>
              </a:lnSpc>
              <a:spcBef>
                <a:spcPts val="1200"/>
              </a:spcBef>
              <a:spcAft>
                <a:spcPts val="0"/>
              </a:spcAft>
              <a:buSzPts val="770"/>
              <a:buNone/>
            </a:pPr>
            <a:r>
              <a:rPr lang="en-GB" sz="1660"/>
              <a:t>Saves time compared to manual data analysis.</a:t>
            </a:r>
            <a:endParaRPr sz="1660"/>
          </a:p>
          <a:p>
            <a:pPr indent="0" lvl="0" marL="0" rtl="0" algn="l">
              <a:lnSpc>
                <a:spcPct val="95000"/>
              </a:lnSpc>
              <a:spcBef>
                <a:spcPts val="1200"/>
              </a:spcBef>
              <a:spcAft>
                <a:spcPts val="0"/>
              </a:spcAft>
              <a:buSzPts val="770"/>
              <a:buNone/>
            </a:pPr>
            <a:r>
              <a:rPr lang="en-GB" sz="1660"/>
              <a:t>Useful for students, researchers, and healthcare organizations.</a:t>
            </a:r>
            <a:endParaRPr sz="1660"/>
          </a:p>
          <a:p>
            <a:pPr indent="0" lvl="0" marL="0" rtl="0" algn="l">
              <a:lnSpc>
                <a:spcPct val="95000"/>
              </a:lnSpc>
              <a:spcBef>
                <a:spcPts val="1200"/>
              </a:spcBef>
              <a:spcAft>
                <a:spcPts val="1200"/>
              </a:spcAft>
              <a:buSzPts val="770"/>
              <a:buNone/>
            </a:pPr>
            <a:r>
              <a:t/>
            </a:r>
            <a:endParaRPr sz="126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CONCLUSION</a:t>
            </a:r>
            <a:endParaRPr/>
          </a:p>
        </p:txBody>
      </p:sp>
      <p:sp>
        <p:nvSpPr>
          <p:cNvPr id="180" name="Google Shape;180;p30"/>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Arial"/>
                <a:ea typeface="Arial"/>
                <a:cs typeface="Arial"/>
                <a:sym typeface="Arial"/>
              </a:rPr>
              <a:t>The project successfully demonstrates </a:t>
            </a:r>
            <a:r>
              <a:rPr b="1" lang="en-GB" sz="1600">
                <a:latin typeface="Arial"/>
                <a:ea typeface="Arial"/>
                <a:cs typeface="Arial"/>
                <a:sym typeface="Arial"/>
              </a:rPr>
              <a:t>Drug Sales Analysis using Python</a:t>
            </a:r>
            <a:r>
              <a:rPr lang="en-GB" sz="1600">
                <a:latin typeface="Arial"/>
                <a:ea typeface="Arial"/>
                <a:cs typeface="Arial"/>
                <a:sym typeface="Arial"/>
              </a:rPr>
              <a:t>.</a:t>
            </a:r>
            <a:endParaRPr sz="1600">
              <a:latin typeface="Arial"/>
              <a:ea typeface="Arial"/>
              <a:cs typeface="Arial"/>
              <a:sym typeface="Arial"/>
            </a:endParaRPr>
          </a:p>
          <a:p>
            <a:pPr indent="0" lvl="0" marL="0" rtl="0" algn="l">
              <a:spcBef>
                <a:spcPts val="1200"/>
              </a:spcBef>
              <a:spcAft>
                <a:spcPts val="0"/>
              </a:spcAft>
              <a:buNone/>
            </a:pPr>
            <a:r>
              <a:rPr b="1" lang="en-GB" sz="1600">
                <a:latin typeface="Arial"/>
                <a:ea typeface="Arial"/>
                <a:cs typeface="Arial"/>
                <a:sym typeface="Arial"/>
              </a:rPr>
              <a:t>Pandas</a:t>
            </a:r>
            <a:r>
              <a:rPr lang="en-GB" sz="1600">
                <a:latin typeface="Arial"/>
                <a:ea typeface="Arial"/>
                <a:cs typeface="Arial"/>
                <a:sym typeface="Arial"/>
              </a:rPr>
              <a:t> was used for data cleaning, filtering, grouping, and analysis.</a:t>
            </a:r>
            <a:endParaRPr sz="1600">
              <a:latin typeface="Arial"/>
              <a:ea typeface="Arial"/>
              <a:cs typeface="Arial"/>
              <a:sym typeface="Arial"/>
            </a:endParaRPr>
          </a:p>
          <a:p>
            <a:pPr indent="0" lvl="0" marL="0" rtl="0" algn="l">
              <a:spcBef>
                <a:spcPts val="1200"/>
              </a:spcBef>
              <a:spcAft>
                <a:spcPts val="0"/>
              </a:spcAft>
              <a:buNone/>
            </a:pPr>
            <a:r>
              <a:rPr b="1" lang="en-GB" sz="1600">
                <a:latin typeface="Arial"/>
                <a:ea typeface="Arial"/>
                <a:cs typeface="Arial"/>
                <a:sym typeface="Arial"/>
              </a:rPr>
              <a:t>NumPy</a:t>
            </a:r>
            <a:r>
              <a:rPr lang="en-GB" sz="1600">
                <a:latin typeface="Arial"/>
                <a:ea typeface="Arial"/>
                <a:cs typeface="Arial"/>
                <a:sym typeface="Arial"/>
              </a:rPr>
              <a:t> supported numerical and statistical calculations.</a:t>
            </a:r>
            <a:endParaRPr sz="1600">
              <a:latin typeface="Arial"/>
              <a:ea typeface="Arial"/>
              <a:cs typeface="Arial"/>
              <a:sym typeface="Arial"/>
            </a:endParaRPr>
          </a:p>
          <a:p>
            <a:pPr indent="0" lvl="0" marL="0" rtl="0" algn="l">
              <a:spcBef>
                <a:spcPts val="1200"/>
              </a:spcBef>
              <a:spcAft>
                <a:spcPts val="0"/>
              </a:spcAft>
              <a:buNone/>
            </a:pPr>
            <a:r>
              <a:rPr b="1" lang="en-GB" sz="1600">
                <a:latin typeface="Arial"/>
                <a:ea typeface="Arial"/>
                <a:cs typeface="Arial"/>
                <a:sym typeface="Arial"/>
              </a:rPr>
              <a:t>Matplotlib</a:t>
            </a:r>
            <a:r>
              <a:rPr lang="en-GB" sz="1600">
                <a:latin typeface="Arial"/>
                <a:ea typeface="Arial"/>
                <a:cs typeface="Arial"/>
                <a:sym typeface="Arial"/>
              </a:rPr>
              <a:t> transformed the analyzed data into clear visualizations.</a:t>
            </a:r>
            <a:endParaRPr sz="1600">
              <a:latin typeface="Arial"/>
              <a:ea typeface="Arial"/>
              <a:cs typeface="Arial"/>
              <a:sym typeface="Arial"/>
            </a:endParaRPr>
          </a:p>
          <a:p>
            <a:pPr indent="0" lvl="0" marL="0" rtl="0" algn="l">
              <a:spcBef>
                <a:spcPts val="1200"/>
              </a:spcBef>
              <a:spcAft>
                <a:spcPts val="0"/>
              </a:spcAft>
              <a:buNone/>
            </a:pPr>
            <a:r>
              <a:rPr lang="en-GB" sz="1600">
                <a:latin typeface="Arial"/>
                <a:ea typeface="Arial"/>
                <a:cs typeface="Arial"/>
                <a:sym typeface="Arial"/>
              </a:rPr>
              <a:t>The analysis provided valuable insights into drug sales trends, pharmacies, companies, doctors, and seasonal distribution.</a:t>
            </a:r>
            <a:endParaRPr sz="1600">
              <a:latin typeface="Arial"/>
              <a:ea typeface="Arial"/>
              <a:cs typeface="Arial"/>
              <a:sym typeface="Arial"/>
            </a:endParaRPr>
          </a:p>
          <a:p>
            <a:pPr indent="0" lvl="0" marL="0" rtl="0" algn="l">
              <a:spcBef>
                <a:spcPts val="1200"/>
              </a:spcBef>
              <a:spcAft>
                <a:spcPts val="0"/>
              </a:spcAft>
              <a:buNone/>
            </a:pPr>
            <a:r>
              <a:rPr lang="en-GB" sz="1600">
                <a:latin typeface="Arial"/>
                <a:ea typeface="Arial"/>
                <a:cs typeface="Arial"/>
                <a:sym typeface="Arial"/>
              </a:rPr>
              <a:t>Overall, the project is useful for learning data analysis and supporting pharmaceutical decision-making.</a:t>
            </a:r>
            <a:endParaRPr sz="1600">
              <a:latin typeface="Arial"/>
              <a:ea typeface="Arial"/>
              <a:cs typeface="Arial"/>
              <a:sym typeface="Arial"/>
            </a:endParaRPr>
          </a:p>
          <a:p>
            <a:pPr indent="0" lvl="0" marL="0" rtl="0" algn="l">
              <a:spcBef>
                <a:spcPts val="1200"/>
              </a:spcBef>
              <a:spcAft>
                <a:spcPts val="1200"/>
              </a:spcAft>
              <a:buNone/>
            </a:pPr>
            <a:r>
              <a:t/>
            </a:r>
            <a:endParaRPr sz="23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1"/>
          <p:cNvSpPr txBox="1"/>
          <p:nvPr>
            <p:ph type="title"/>
          </p:nvPr>
        </p:nvSpPr>
        <p:spPr>
          <a:xfrm>
            <a:off x="387900" y="458025"/>
            <a:ext cx="7160700" cy="747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86" name="Google Shape;186;p3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r>
              <a:rPr lang="en-GB" sz="4400"/>
              <a:t>THANK YOU !</a:t>
            </a:r>
            <a:endParaRPr sz="440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